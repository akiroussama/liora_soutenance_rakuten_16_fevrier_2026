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0"/>
            <a:ext cx="75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</a:defRPr>
            </a:pPr>
            <a:r>
              <a:t>Classification Multimodale</a:t>
            </a:r>
          </a:p>
          <a:p>
            <a:pPr algn="ctr">
              <a:spcBef>
                <a:spcPts val="2000"/>
              </a:spcBef>
              <a:defRPr sz="2000">
                <a:solidFill>
                  <a:srgbClr val="64748B"/>
                </a:solidFill>
              </a:defRPr>
            </a:pPr>
            <a:r>
              <a:t>Produits E-Commerce - Challenge Rakuten France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000" y="342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352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F0000"/>
                </a:solidFill>
              </a:defRPr>
            </a:pPr>
            <a:r>
              <a:t>84 916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96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Produits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42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352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F0000"/>
                </a:solidFill>
              </a:defRPr>
            </a:pPr>
            <a: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396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42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0000" y="352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0" y="396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Accuracy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42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0" y="352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396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Accuracy Texte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4500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Johan Frachon  -  Liviu Andronic  -  Hery M. Ralaimanantsoa  -  Oussama Akir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752000"/>
            <a:ext cx="82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Mentor : Antoine - Fevrier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15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Le Challenge Rakuten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62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0000" y="169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Desequilibre des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216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23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Preprocessing (TF-IDF + CNN)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270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277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Modelisation Texte - 83%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324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331199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Modelisation Image (ML vs DL)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378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0000" y="385199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Voting System - 92%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80000" y="108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0000" y="115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Fusion Multimodale - 94%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80000" y="162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0000" y="169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Architecture End-to-End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0000" y="216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0000" y="223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Distribution des Classes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80000" y="270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0000" y="277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Exemples de Predictions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80000" y="3240000"/>
            <a:ext cx="432000" cy="360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F0000"/>
                </a:solidFill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000" y="331199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Le Challenge Rakuten France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Objectif</a:t>
            </a:r>
            <a:br/>
            <a:r>
              <a:t>Classifier automatiquement des produits e-commerce parmi 27 categories en utilisant le texte et l'image.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80000"/>
            <a:ext cx="36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Enjeux Business</a:t>
            </a:r>
            <a:br/>
            <a:r>
              <a:t>- Ameliorer l'experience de recherche</a:t>
            </a:r>
            <a:br/>
            <a:r>
              <a:t>- Reduire le taux de rebond</a:t>
            </a:r>
            <a:br/>
            <a:r>
              <a:t>- Automatiser millions de produits/jour</a:t>
            </a:r>
            <a:br/>
            <a:r>
              <a:t>- Traiter donnees multilingues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0" y="108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0" y="118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F0000"/>
                </a:solidFill>
              </a:defRPr>
            </a:pPr>
            <a:r>
              <a:t>84 916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0" y="162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Produits 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0" y="108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0" y="118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F0000"/>
                </a:solidFill>
              </a:defRPr>
            </a:pPr>
            <a:r>
              <a:t>13 812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0" y="162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Produits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0000" y="216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0" y="226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270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0000" y="216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0000" y="226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0" y="270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Descriptions NaN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3420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</a:defRPr>
            </a:pPr>
            <a:r>
              <a:t>Metrique: F1-Score weighted</a:t>
            </a:r>
            <a:br/>
            <a:r>
              <a:t>Prend en compte le desequilibre des classes.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Desequilibre des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L'analyse revele un desequilibre significatif constituant un defi majeur du projet.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1440000"/>
          <a:ext cx="360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900000"/>
                <a:gridCol w="900000"/>
                <a:gridCol w="900000"/>
              </a:tblGrid>
              <a:tr h="288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Rang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Categorie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Effectif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Piscines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10 217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Mobilier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5 076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4 996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Consoles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680000" y="144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0" y="154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13x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0" y="19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Ratio Max/Min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0" y="144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0" y="154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F0000"/>
                </a:solidFill>
              </a:defRPr>
            </a:pPr>
            <a:r>
              <a:t>3 145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0" y="19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Moyenne/Classe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0" y="270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Solutions adoptees:</a:t>
            </a:r>
            <a:br/>
            <a:r>
              <a:t>- class_weight='balanced'</a:t>
            </a:r>
            <a:br/>
            <a:r>
              <a:t>- F1-Score weighted</a:t>
            </a:r>
            <a:br/>
            <a:r>
              <a:t>- Oversampling cible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Pipeline Texte - TF-IDF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440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HTML+NaN -&gt; Clean -&gt; Concat -&gt; TF-IDF</a:t>
            </a:r>
            <a:br/>
            <a:br/>
            <a:r>
              <a:t>FeatureUnion: Word n-grams (1,2) + Char n-grams (3,5)</a:t>
            </a:r>
            <a:br/>
            <a:r>
              <a:t>280K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52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Pipeline Image - Transfer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880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500x500 -&gt; Resize 224x224 -&gt; Normalize -&gt; CNN -&gt; Features</a:t>
            </a:r>
            <a:br/>
            <a:br/>
            <a:r>
              <a:t>ResNet50 (2048) / EfficientNet-B0 / ImageNet weights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0" y="1440000"/>
            <a:ext cx="36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</a:defRPr>
            </a:pPr>
            <a:r>
              <a:t>Justification</a:t>
            </a:r>
            <a:br/>
            <a:br/>
            <a:r>
              <a:t>La combinaison word + char TF-IDF capture semantique et morphologie, robuste aux fautes d'orthographe et textes multilingues.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Modelisation Texte - LinearSVC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260000"/>
          <a:ext cx="396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1320000"/>
                <a:gridCol w="1320000"/>
              </a:tblGrid>
              <a:tr h="288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Modele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Temps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Multinomial NB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~30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LinearSVC (C=0.5)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0" y="144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0" y="154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83%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0" y="19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Accuracy LinearSVC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0" y="270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Champion Texte: LinearSVC</a:t>
            </a:r>
            <a:br/>
            <a:r>
              <a:t>class_weight='balanced', C=0.5</a:t>
            </a:r>
            <a:br/>
            <a:r>
              <a:t>Optimise par GridSearch</a:t>
            </a:r>
            <a:br/>
            <a:r>
              <a:t>F1-Score weighted: 0.827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Modelisation Image - ML vs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50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260000"/>
                <a:gridCol w="1260000"/>
                <a:gridCol w="1260000"/>
              </a:tblGrid>
              <a:tr h="288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Modele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Temps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XGBoost 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XGBoost Heavy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 heures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CPU 128GB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MLP (Adam+GELU)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58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0000" y="288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Plafond ML: Les modeles classiques plafonnent a ~76% malgre 6h de calcul.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0" y="288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Rupture Deep Learning: MLP atteint 91.4% en 58 secondes sur GPU RTX 4070.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Voting System - Modele Final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Exploitation de la complementarite des architectures : les modeles font des erreurs differentes.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1620000"/>
            <a:ext cx="1800000" cy="108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1728000"/>
            <a:ext cx="15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DINOv3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999" y="1980000"/>
            <a:ext cx="15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F0000"/>
                </a:solidFill>
              </a:defRPr>
            </a:pPr>
            <a:r>
              <a:t>79.1%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2340000"/>
            <a:ext cx="15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Poids: 0.40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000" y="1620000"/>
            <a:ext cx="1800000" cy="108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8000" y="1728000"/>
            <a:ext cx="15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8000" y="1980000"/>
            <a:ext cx="15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F0000"/>
                </a:solidFill>
              </a:defRPr>
            </a:pPr>
            <a:r>
              <a:t>80.1%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8000" y="2340000"/>
            <a:ext cx="15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Poids: 0.35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1620000"/>
            <a:ext cx="1800000" cy="108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00" y="1728000"/>
            <a:ext cx="15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EfficientNet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00" y="1980000"/>
            <a:ext cx="15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F0000"/>
                </a:solidFill>
              </a:defRPr>
            </a:pPr>
            <a:r>
              <a:t>~75%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2340000"/>
            <a:ext cx="158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Poids: 0.25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0000" y="1620000"/>
            <a:ext cx="1440000" cy="1080000"/>
          </a:xfrm>
          <a:prstGeom prst="round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2000" y="1728000"/>
            <a:ext cx="12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2000" y="1980000"/>
            <a:ext cx="129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2000" y="2340000"/>
            <a:ext cx="12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060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</a:defRPr>
            </a:pPr>
            <a:r>
              <a:t>Orthogonalite des Erreurs: Ou DINOv3 se trompe, XGBoost peut avoir raison.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0" y="3060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Calibration (Sharpening): p^3/Sum(p^3) pour renforcer la confiance.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Fusion Multimodale - Late Fusion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26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Image (92%) x 0.6  +  Texte (83%) x 0.4  =  Final (~94%)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160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Exemple de Synergie</a:t>
            </a:r>
            <a:br/>
            <a:br/>
            <a:r>
              <a:t>Image: Forme ronde bleue -&gt; 'Piscine'</a:t>
            </a:r>
            <a:br/>
            <a:r>
              <a:t>Texte: 'DVD Le Grand Bleu' -&gt; 'DVD'</a:t>
            </a:r>
            <a:br/>
            <a:r>
              <a:t>Fusion: Le texte corrige l'erreur visuelle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680000" y="2160000"/>
          <a:ext cx="324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</a:tblGrid>
              <a:tr h="288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BF000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Texte seul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Image seule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Fusion Multimodale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~94%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0000" y="360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Gain: +2 points par rapport au meilleur modele seul + amelioration de la robustesse.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VUE GLOBALE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Architecture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79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000" b="0">
                <a:solidFill>
                  <a:srgbClr val="1E293B"/>
                </a:solidFill>
              </a:defRPr>
            </a:pPr>
            <a:r>
              <a:t>PRODUIT (Texte + Image)</a:t>
            </a:r>
            <a:br/>
            <a:r>
              <a:t>        |</a:t>
            </a:r>
            <a:br/>
            <a:r>
              <a:t>        v</a:t>
            </a:r>
            <a:br/>
            <a:r>
              <a:t>   +----+----+</a:t>
            </a:r>
            <a:br/>
            <a:r>
              <a:t>   |         |</a:t>
            </a:r>
            <a:br/>
            <a:r>
              <a:t>   v         v</a:t>
            </a:r>
            <a:br/>
            <a:r>
              <a:t>TF-IDF    Transfer Learning</a:t>
            </a:r>
            <a:br/>
            <a:r>
              <a:t>280K       CNN Features</a:t>
            </a:r>
            <a:br/>
            <a:r>
              <a:t>   |         |</a:t>
            </a:r>
            <a:br/>
            <a:r>
              <a:t>   v         v</a:t>
            </a:r>
            <a:br/>
            <a:r>
              <a:t>LinearSVC  Voting System</a:t>
            </a:r>
            <a:br/>
            <a:r>
              <a:t>  83%     (DINOv3+XGBoost+EffNet)</a:t>
            </a:r>
            <a:br/>
            <a:r>
              <a:t>   |         92%</a:t>
            </a:r>
            <a:br/>
            <a:r>
              <a:t>   |         |</a:t>
            </a:r>
            <a:br/>
            <a:r>
              <a:t>   +----+----+</a:t>
            </a:r>
            <a:br/>
            <a:r>
              <a:t>        |</a:t>
            </a:r>
            <a:br/>
            <a:r>
              <a:t>        v</a:t>
            </a:r>
            <a:br/>
            <a:r>
              <a:t>   LATE FUSION</a:t>
            </a:r>
            <a:br/>
            <a:r>
              <a:t>   (alpha=0.6 img, 0.4 txt)</a:t>
            </a:r>
            <a:br/>
            <a:r>
              <a:t>        |</a:t>
            </a:r>
            <a:br/>
            <a:r>
              <a:t>        v</a:t>
            </a:r>
            <a:br/>
            <a:r>
              <a:t>   PREDICTION ~94%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VISUALISATION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Distribution des 27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Ratio 13:1 entre la classe majoritaire (Piscines: 10K) et minoritaire (Consoles: 761)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36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Defi Majeur</a:t>
            </a:r>
            <a:br/>
            <a:br/>
            <a:r>
              <a:t>La classe majoritaire (Piscines) contient 13x plus d'exemples que la minoritaire (Consoles). Sans traitement, le modele ignorerait les classes rares.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0" y="1800000"/>
            <a:ext cx="36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Strategies Adoptees</a:t>
            </a:r>
            <a:br/>
            <a:br/>
            <a:r>
              <a:t>- class_weight='balanced'</a:t>
            </a:r>
            <a:br/>
            <a:r>
              <a:t>- F1-Score weighted</a:t>
            </a:r>
            <a:br/>
            <a:r>
              <a:t>- Oversampling cible sur classes &lt;1000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360000"/>
            <a:ext cx="1080000" cy="28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06000"/>
            <a:ext cx="64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Exemples de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756000"/>
            <a:ext cx="792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007999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Cas reels montrant la complementarite texte/image et la robustesse du systeme.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440000"/>
            <a:ext cx="2520000" cy="1800000"/>
          </a:xfrm>
          <a:prstGeom prst="roundRect">
            <a:avLst/>
          </a:prstGeom>
          <a:solidFill>
            <a:srgbClr val="F8F9F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548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Cas Clair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1872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Texte: 'Harry Potter tome 1'</a:t>
            </a:r>
            <a:br/>
            <a:r>
              <a:t>Image: Couverture livre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700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-&gt; Livres (99%)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1440000"/>
            <a:ext cx="2520000" cy="1800000"/>
          </a:xfrm>
          <a:prstGeom prst="roundRect">
            <a:avLst/>
          </a:prstGeom>
          <a:solidFill>
            <a:srgbClr val="F8F9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8000" y="1548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Image Decisive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8000" y="1872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Texte: 'Accessoire bleu'</a:t>
            </a:r>
            <a:br/>
            <a:r>
              <a:t>Image: Bouee piscine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8000" y="2700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-&gt; Piscine (92%)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0000" y="1440000"/>
            <a:ext cx="2520000" cy="1800000"/>
          </a:xfrm>
          <a:prstGeom prst="roundRect">
            <a:avLst/>
          </a:prstGeom>
          <a:solidFill>
            <a:srgbClr val="F8F9F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8000" y="1548000"/>
            <a:ext cx="230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Texte Decisif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8000" y="1872000"/>
            <a:ext cx="23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</a:defRPr>
            </a:pPr>
            <a:r>
              <a:t>Texte: 'DVD Le Grand Bleu'</a:t>
            </a:r>
            <a:br/>
            <a:r>
              <a:t>Image: Pochette bleue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8000" y="2700000"/>
            <a:ext cx="2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-&gt; DVD/Film (87%)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60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563EB"/>
                </a:solidFill>
              </a:defRPr>
            </a:pPr>
            <a:r>
              <a:t>Synergie Multimodale: Quand l'image est ambigue, le texte tranche. Et vice-versa.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0"/>
            <a:ext cx="75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</a:defRPr>
            </a:pPr>
            <a:r>
              <a:t>Conclusion &amp; Perspectives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000" y="144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154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92%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19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Image Voting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80000" y="144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0000" y="154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F0000"/>
                </a:solidFill>
              </a:defRPr>
            </a:pPr>
            <a:r>
              <a:t>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0000" y="19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Texte SVC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0" y="1440000"/>
            <a:ext cx="1620000" cy="9000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0" y="1548000"/>
            <a:ext cx="16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~94%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0" y="19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70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Methodologie</a:t>
            </a:r>
            <a:br/>
            <a:r>
              <a:t>Pipeline complet avec gestion du desequilibre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0" y="270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Performance</a:t>
            </a:r>
            <a:br/>
            <a:r>
              <a:t>Voting System innovant a 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270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Application</a:t>
            </a:r>
            <a:br/>
            <a:r>
              <a:t>Interface Streamlit fonctionnelle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378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563EB"/>
                </a:solidFill>
              </a:defRPr>
            </a:pPr>
            <a:r>
              <a:t>Perspectives: OCR (+3-5%) | CamemBERT (+5-8%) | Fine-tuning DINOv3 | Deploiement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450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F0000"/>
                </a:solidFill>
              </a:defRPr>
            </a:pPr>
            <a:r>
              <a:t>Merci ! -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